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Old Standard TT"/>
      <p:regular r:id="rId18"/>
      <p:bold r:id="rId19"/>
      <p: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OldStandardTT-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OldStandardTT-bold.fntdata"/><Relationship Id="rId6" Type="http://schemas.openxmlformats.org/officeDocument/2006/relationships/slide" Target="slides/slide1.xml"/><Relationship Id="rId18" Type="http://schemas.openxmlformats.org/officeDocument/2006/relationships/font" Target="fonts/OldStandardTT-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c6f90357f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c6f90357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c6f90357f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c6f90357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c6f90357f_0_1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c6f90357f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c6f90357f_0_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c6f90357f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c6f90357f_0_1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c6f90357f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c6f90357f_0_2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c6f90357f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002d1ed064_0_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002d1ed064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c6f90357f_0_3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c6f90357f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002d1ed064_0_1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002d1ed064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002d1ed064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002d1ed06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c6f90357f_0_4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c6f90357f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c6f90357f_0_3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c6f90357f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 name="Google Shape;11;p2"/>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12" name="Google Shape;12;p2"/>
          <p:cNvSpPr txBox="1"/>
          <p:nvPr>
            <p:ph type="ctrTitle"/>
          </p:nvPr>
        </p:nvSpPr>
        <p:spPr>
          <a:xfrm>
            <a:off x="512700" y="1893300"/>
            <a:ext cx="8118600" cy="15228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1"/>
              </a:buClr>
              <a:buSzPts val="4200"/>
              <a:buNone/>
              <a:defRPr sz="4200">
                <a:solidFill>
                  <a:schemeClr val="accent1"/>
                </a:solidFill>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p:txBody>
      </p:sp>
      <p:sp>
        <p:nvSpPr>
          <p:cNvPr id="13" name="Google Shape;13;p2"/>
          <p:cNvSpPr txBox="1"/>
          <p:nvPr>
            <p:ph idx="1" type="subTitle"/>
          </p:nvPr>
        </p:nvSpPr>
        <p:spPr>
          <a:xfrm>
            <a:off x="512700" y="3840639"/>
            <a:ext cx="8118600" cy="787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2"/>
              </a:buClr>
              <a:buSzPts val="2400"/>
              <a:buNone/>
              <a:defRPr sz="2400">
                <a:solidFill>
                  <a:schemeClr val="accent2"/>
                </a:solidFill>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17" name="Google Shape;17;p3"/>
          <p:cNvSpPr txBox="1"/>
          <p:nvPr>
            <p:ph type="title"/>
          </p:nvPr>
        </p:nvSpPr>
        <p:spPr>
          <a:xfrm>
            <a:off x="512700" y="1893300"/>
            <a:ext cx="8118600" cy="15228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71675"/>
            <a:ext cx="3999900" cy="3397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7" name="Google Shape;27;p5"/>
          <p:cNvSpPr txBox="1"/>
          <p:nvPr>
            <p:ph idx="2" type="body"/>
          </p:nvPr>
        </p:nvSpPr>
        <p:spPr>
          <a:xfrm>
            <a:off x="4832400" y="1171675"/>
            <a:ext cx="3999900" cy="3397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56040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1"/>
              </a:buClr>
              <a:buSzPts val="5400"/>
              <a:buNone/>
              <a:defRPr sz="5400">
                <a:solidFill>
                  <a:schemeClr val="accent1"/>
                </a:solidFill>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42" name="Google Shape;42;p9"/>
          <p:cNvSpPr txBox="1"/>
          <p:nvPr>
            <p:ph type="title"/>
          </p:nvPr>
        </p:nvSpPr>
        <p:spPr>
          <a:xfrm>
            <a:off x="265500" y="1382350"/>
            <a:ext cx="4045200" cy="1333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p:txBody>
      </p:sp>
      <p:sp>
        <p:nvSpPr>
          <p:cNvPr id="43" name="Google Shape;43;p9"/>
          <p:cNvSpPr txBox="1"/>
          <p:nvPr>
            <p:ph idx="1" type="subTitle"/>
          </p:nvPr>
        </p:nvSpPr>
        <p:spPr>
          <a:xfrm>
            <a:off x="265500" y="276900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1600"/>
              </a:spcBef>
              <a:spcAft>
                <a:spcPts val="0"/>
              </a:spcAft>
              <a:buClr>
                <a:schemeClr val="accent1"/>
              </a:buClr>
              <a:buSzPts val="1400"/>
              <a:buChar char="○"/>
              <a:defRPr>
                <a:solidFill>
                  <a:schemeClr val="accent1"/>
                </a:solidFill>
              </a:defRPr>
            </a:lvl2pPr>
            <a:lvl3pPr indent="-317500" lvl="2" marL="1371600">
              <a:spcBef>
                <a:spcPts val="1600"/>
              </a:spcBef>
              <a:spcAft>
                <a:spcPts val="0"/>
              </a:spcAft>
              <a:buClr>
                <a:schemeClr val="accent1"/>
              </a:buClr>
              <a:buSzPts val="1400"/>
              <a:buChar char="■"/>
              <a:defRPr>
                <a:solidFill>
                  <a:schemeClr val="accent1"/>
                </a:solidFill>
              </a:defRPr>
            </a:lvl3pPr>
            <a:lvl4pPr indent="-317500" lvl="3" marL="1828800">
              <a:spcBef>
                <a:spcPts val="1600"/>
              </a:spcBef>
              <a:spcAft>
                <a:spcPts val="0"/>
              </a:spcAft>
              <a:buClr>
                <a:schemeClr val="accent1"/>
              </a:buClr>
              <a:buSzPts val="1400"/>
              <a:buChar char="●"/>
              <a:defRPr>
                <a:solidFill>
                  <a:schemeClr val="accent1"/>
                </a:solidFill>
              </a:defRPr>
            </a:lvl4pPr>
            <a:lvl5pPr indent="-317500" lvl="4" marL="2286000">
              <a:spcBef>
                <a:spcPts val="1600"/>
              </a:spcBef>
              <a:spcAft>
                <a:spcPts val="0"/>
              </a:spcAft>
              <a:buClr>
                <a:schemeClr val="accent1"/>
              </a:buClr>
              <a:buSzPts val="1400"/>
              <a:buChar char="○"/>
              <a:defRPr>
                <a:solidFill>
                  <a:schemeClr val="accent1"/>
                </a:solidFill>
              </a:defRPr>
            </a:lvl5pPr>
            <a:lvl6pPr indent="-317500" lvl="5" marL="2743200">
              <a:spcBef>
                <a:spcPts val="1600"/>
              </a:spcBef>
              <a:spcAft>
                <a:spcPts val="0"/>
              </a:spcAft>
              <a:buClr>
                <a:schemeClr val="accent1"/>
              </a:buClr>
              <a:buSzPts val="1400"/>
              <a:buChar char="■"/>
              <a:defRPr>
                <a:solidFill>
                  <a:schemeClr val="accent1"/>
                </a:solidFill>
              </a:defRPr>
            </a:lvl6pPr>
            <a:lvl7pPr indent="-317500" lvl="6" marL="3200400">
              <a:spcBef>
                <a:spcPts val="1600"/>
              </a:spcBef>
              <a:spcAft>
                <a:spcPts val="0"/>
              </a:spcAft>
              <a:buClr>
                <a:schemeClr val="accent1"/>
              </a:buClr>
              <a:buSzPts val="1400"/>
              <a:buChar char="●"/>
              <a:defRPr>
                <a:solidFill>
                  <a:schemeClr val="accent1"/>
                </a:solidFill>
              </a:defRPr>
            </a:lvl7pPr>
            <a:lvl8pPr indent="-317500" lvl="7" marL="3657600">
              <a:spcBef>
                <a:spcPts val="1600"/>
              </a:spcBef>
              <a:spcAft>
                <a:spcPts val="0"/>
              </a:spcAft>
              <a:buClr>
                <a:schemeClr val="accent1"/>
              </a:buClr>
              <a:buSzPts val="1400"/>
              <a:buChar char="○"/>
              <a:defRPr>
                <a:solidFill>
                  <a:schemeClr val="accent1"/>
                </a:solidFill>
              </a:defRPr>
            </a:lvl8pPr>
            <a:lvl9pPr indent="-317500" lvl="8" marL="4114800">
              <a:spcBef>
                <a:spcPts val="1600"/>
              </a:spcBef>
              <a:spcAft>
                <a:spcPts val="1600"/>
              </a:spcAft>
              <a:buClr>
                <a:schemeClr val="accent1"/>
              </a:buClr>
              <a:buSzPts val="1400"/>
              <a:buChar char="■"/>
              <a:defRPr>
                <a:solidFill>
                  <a:schemeClr val="accent1"/>
                </a:solidFill>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039650"/>
            <a:ext cx="8520600" cy="2106300"/>
          </a:xfrm>
          <a:prstGeom prst="rect">
            <a:avLst/>
          </a:prstGeom>
        </p:spPr>
        <p:txBody>
          <a:bodyPr anchorCtr="0" anchor="b" bIns="91425" lIns="91425" spcFirstLastPara="1" rIns="91425" wrap="square" tIns="91425">
            <a:no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chemeClr val="accen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7" name="Google Shape;7;p1"/>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indent="-317500" lvl="1" marL="9144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indent="-317500" lvl="2" marL="13716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indent="-317500" lvl="3" marL="18288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indent="-317500" lvl="4" marL="22860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indent="-317500" lvl="5" marL="27432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indent="-317500" lvl="6" marL="32004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indent="-317500" lvl="7" marL="36576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indent="-317500" lvl="8" marL="4114800">
              <a:lnSpc>
                <a:spcPct val="115000"/>
              </a:lnSpc>
              <a:spcBef>
                <a:spcPts val="1600"/>
              </a:spcBef>
              <a:spcAft>
                <a:spcPts val="160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jpg"/><Relationship Id="rId4" Type="http://schemas.openxmlformats.org/officeDocument/2006/relationships/image" Target="../media/image8.jpg"/><Relationship Id="rId5"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1368100" y="2938100"/>
            <a:ext cx="7240500" cy="979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600"/>
              <a:t>Advanced Car</a:t>
            </a:r>
            <a:endParaRPr sz="4600"/>
          </a:p>
        </p:txBody>
      </p:sp>
      <p:sp>
        <p:nvSpPr>
          <p:cNvPr id="60" name="Google Shape;60;p13"/>
          <p:cNvSpPr txBox="1"/>
          <p:nvPr>
            <p:ph idx="1" type="subTitle"/>
          </p:nvPr>
        </p:nvSpPr>
        <p:spPr>
          <a:xfrm>
            <a:off x="1495200" y="2300075"/>
            <a:ext cx="7345500" cy="78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00"/>
              <a:t>Project Title:</a:t>
            </a:r>
            <a:endParaRPr sz="2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867225" y="1016750"/>
            <a:ext cx="7453500" cy="2781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400"/>
              <a:t>Team Members:</a:t>
            </a:r>
            <a:endParaRPr sz="3400"/>
          </a:p>
          <a:p>
            <a:pPr indent="0" lvl="0" marL="0" rtl="0" algn="l">
              <a:spcBef>
                <a:spcPts val="0"/>
              </a:spcBef>
              <a:spcAft>
                <a:spcPts val="0"/>
              </a:spcAft>
              <a:buNone/>
            </a:pPr>
            <a:r>
              <a:t/>
            </a:r>
            <a:endParaRPr sz="2900"/>
          </a:p>
          <a:p>
            <a:pPr indent="-412750" lvl="0" marL="457200" rtl="0" algn="l">
              <a:spcBef>
                <a:spcPts val="0"/>
              </a:spcBef>
              <a:spcAft>
                <a:spcPts val="0"/>
              </a:spcAft>
              <a:buSzPts val="2900"/>
              <a:buAutoNum type="arabicPeriod"/>
            </a:pPr>
            <a:r>
              <a:rPr lang="en" sz="2900"/>
              <a:t>Md. Al-amin - 2021200000088</a:t>
            </a:r>
            <a:endParaRPr sz="2900"/>
          </a:p>
          <a:p>
            <a:pPr indent="-412750" lvl="0" marL="457200" rtl="0" algn="l">
              <a:spcBef>
                <a:spcPts val="0"/>
              </a:spcBef>
              <a:spcAft>
                <a:spcPts val="0"/>
              </a:spcAft>
              <a:buSzPts val="2900"/>
              <a:buAutoNum type="arabicPeriod"/>
            </a:pPr>
            <a:r>
              <a:rPr lang="en" sz="2900"/>
              <a:t>Md. Raihan Shikder - 2021200000089</a:t>
            </a:r>
            <a:endParaRPr sz="2900"/>
          </a:p>
          <a:p>
            <a:pPr indent="-412750" lvl="0" marL="457200" rtl="0" algn="l">
              <a:spcBef>
                <a:spcPts val="0"/>
              </a:spcBef>
              <a:spcAft>
                <a:spcPts val="0"/>
              </a:spcAft>
              <a:buSzPts val="2900"/>
              <a:buAutoNum type="arabicPeriod"/>
            </a:pPr>
            <a:r>
              <a:rPr lang="en" sz="2900"/>
              <a:t>Md. Shahrear Mostofa - 2021200000060</a:t>
            </a:r>
            <a:endParaRPr sz="29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title"/>
          </p:nvPr>
        </p:nvSpPr>
        <p:spPr>
          <a:xfrm>
            <a:off x="265500" y="1382350"/>
            <a:ext cx="4045200" cy="1333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700"/>
              <a:t>Concepts</a:t>
            </a:r>
            <a:endParaRPr sz="4700"/>
          </a:p>
        </p:txBody>
      </p:sp>
      <p:sp>
        <p:nvSpPr>
          <p:cNvPr id="71" name="Google Shape;71;p15"/>
          <p:cNvSpPr txBox="1"/>
          <p:nvPr>
            <p:ph idx="1" type="subTitle"/>
          </p:nvPr>
        </p:nvSpPr>
        <p:spPr>
          <a:xfrm>
            <a:off x="134575" y="2769000"/>
            <a:ext cx="4328400" cy="134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400"/>
              <a:t>Three main parts of the project</a:t>
            </a:r>
            <a:endParaRPr sz="2400"/>
          </a:p>
        </p:txBody>
      </p:sp>
      <p:sp>
        <p:nvSpPr>
          <p:cNvPr id="72" name="Google Shape;72;p15"/>
          <p:cNvSpPr txBox="1"/>
          <p:nvPr>
            <p:ph idx="2" type="body"/>
          </p:nvPr>
        </p:nvSpPr>
        <p:spPr>
          <a:xfrm>
            <a:off x="5044175" y="1015775"/>
            <a:ext cx="3837000" cy="3695100"/>
          </a:xfrm>
          <a:prstGeom prst="rect">
            <a:avLst/>
          </a:prstGeom>
        </p:spPr>
        <p:txBody>
          <a:bodyPr anchorCtr="0" anchor="ctr" bIns="91425" lIns="91425" spcFirstLastPara="1" rIns="91425" wrap="square" tIns="91425">
            <a:noAutofit/>
          </a:bodyPr>
          <a:lstStyle/>
          <a:p>
            <a:pPr indent="-355600" lvl="0" marL="457200" rtl="0" algn="l">
              <a:spcBef>
                <a:spcPts val="0"/>
              </a:spcBef>
              <a:spcAft>
                <a:spcPts val="0"/>
              </a:spcAft>
              <a:buSzPts val="2000"/>
              <a:buChar char="●"/>
            </a:pPr>
            <a:r>
              <a:rPr lang="en" sz="2000"/>
              <a:t>Purposes of the project</a:t>
            </a:r>
            <a:endParaRPr sz="2000"/>
          </a:p>
          <a:p>
            <a:pPr indent="-355600" lvl="0" marL="457200" rtl="0" algn="l">
              <a:spcBef>
                <a:spcPts val="1600"/>
              </a:spcBef>
              <a:spcAft>
                <a:spcPts val="0"/>
              </a:spcAft>
              <a:buSzPts val="2000"/>
              <a:buChar char="●"/>
            </a:pPr>
            <a:r>
              <a:rPr lang="en" sz="2000"/>
              <a:t>Features of the project</a:t>
            </a:r>
            <a:endParaRPr sz="2000"/>
          </a:p>
          <a:p>
            <a:pPr indent="-355600" lvl="0" marL="457200" rtl="0" algn="l">
              <a:spcBef>
                <a:spcPts val="1600"/>
              </a:spcBef>
              <a:spcAft>
                <a:spcPts val="0"/>
              </a:spcAft>
              <a:buSzPts val="2000"/>
              <a:buChar char="●"/>
            </a:pPr>
            <a:r>
              <a:rPr lang="en" sz="2000"/>
              <a:t>Future of the project</a:t>
            </a:r>
            <a:endParaRPr sz="2000"/>
          </a:p>
          <a:p>
            <a:pPr indent="0" lvl="0" marL="457200" rtl="0" algn="l">
              <a:spcBef>
                <a:spcPts val="1600"/>
              </a:spcBef>
              <a:spcAft>
                <a:spcPts val="16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512700" y="1893300"/>
            <a:ext cx="8118600" cy="1522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400"/>
              <a:t>Purposes of the Project</a:t>
            </a:r>
            <a:endParaRPr sz="4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64025" y="100927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Road Accident Scenario:</a:t>
            </a:r>
            <a:endParaRPr/>
          </a:p>
        </p:txBody>
      </p:sp>
      <p:sp>
        <p:nvSpPr>
          <p:cNvPr id="83" name="Google Shape;83;p17"/>
          <p:cNvSpPr txBox="1"/>
          <p:nvPr>
            <p:ph idx="1" type="body"/>
          </p:nvPr>
        </p:nvSpPr>
        <p:spPr>
          <a:xfrm>
            <a:off x="468700" y="1515575"/>
            <a:ext cx="39999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600"/>
          </a:p>
          <a:p>
            <a:pPr indent="0" lvl="0" marL="0" rtl="0" algn="l">
              <a:spcBef>
                <a:spcPts val="1600"/>
              </a:spcBef>
              <a:spcAft>
                <a:spcPts val="0"/>
              </a:spcAft>
              <a:buNone/>
            </a:pPr>
            <a:r>
              <a:rPr lang="en" sz="1600"/>
              <a:t>In 2021, there were 5,629 accidents led to </a:t>
            </a:r>
            <a:r>
              <a:rPr lang="en" sz="1600"/>
              <a:t>7,809 deaths. </a:t>
            </a:r>
            <a:endParaRPr sz="1600"/>
          </a:p>
          <a:p>
            <a:pPr indent="0" lvl="0" marL="0" rtl="0" algn="l">
              <a:spcBef>
                <a:spcPts val="1600"/>
              </a:spcBef>
              <a:spcAft>
                <a:spcPts val="1600"/>
              </a:spcAft>
              <a:buNone/>
            </a:pPr>
            <a:r>
              <a:rPr lang="en" sz="1600"/>
              <a:t>In 2022, there were </a:t>
            </a:r>
            <a:r>
              <a:rPr lang="en" sz="1600"/>
              <a:t>staggering</a:t>
            </a:r>
            <a:r>
              <a:rPr lang="en" sz="1600"/>
              <a:t> with at least 6,749 left 9,951 people dead.</a:t>
            </a:r>
            <a:endParaRPr sz="1600"/>
          </a:p>
        </p:txBody>
      </p:sp>
      <p:pic>
        <p:nvPicPr>
          <p:cNvPr id="84" name="Google Shape;84;p17"/>
          <p:cNvPicPr preferRelativeResize="0"/>
          <p:nvPr/>
        </p:nvPicPr>
        <p:blipFill rotWithShape="1">
          <a:blip r:embed="rId3">
            <a:alphaModFix/>
          </a:blip>
          <a:srcRect b="0" l="20680" r="20686" t="0"/>
          <a:stretch/>
        </p:blipFill>
        <p:spPr>
          <a:xfrm>
            <a:off x="4705150" y="342525"/>
            <a:ext cx="2035799" cy="1955427"/>
          </a:xfrm>
          <a:prstGeom prst="rect">
            <a:avLst/>
          </a:prstGeom>
          <a:noFill/>
          <a:ln>
            <a:noFill/>
          </a:ln>
        </p:spPr>
      </p:pic>
      <p:pic>
        <p:nvPicPr>
          <p:cNvPr id="85" name="Google Shape;85;p17"/>
          <p:cNvPicPr preferRelativeResize="0"/>
          <p:nvPr/>
        </p:nvPicPr>
        <p:blipFill rotWithShape="1">
          <a:blip r:embed="rId4">
            <a:alphaModFix/>
          </a:blip>
          <a:srcRect b="0" l="15165" r="15172" t="0"/>
          <a:stretch/>
        </p:blipFill>
        <p:spPr>
          <a:xfrm>
            <a:off x="6796425" y="342525"/>
            <a:ext cx="2035800" cy="1946699"/>
          </a:xfrm>
          <a:prstGeom prst="rect">
            <a:avLst/>
          </a:prstGeom>
          <a:noFill/>
          <a:ln>
            <a:noFill/>
          </a:ln>
        </p:spPr>
      </p:pic>
      <p:pic>
        <p:nvPicPr>
          <p:cNvPr id="86" name="Google Shape;86;p17"/>
          <p:cNvPicPr preferRelativeResize="0"/>
          <p:nvPr/>
        </p:nvPicPr>
        <p:blipFill rotWithShape="1">
          <a:blip r:embed="rId5">
            <a:alphaModFix/>
          </a:blip>
          <a:srcRect b="0" l="1295" r="1295" t="0"/>
          <a:stretch/>
        </p:blipFill>
        <p:spPr>
          <a:xfrm>
            <a:off x="4705200" y="2336175"/>
            <a:ext cx="4127098" cy="24203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8"/>
          <p:cNvSpPr txBox="1"/>
          <p:nvPr>
            <p:ph type="title"/>
          </p:nvPr>
        </p:nvSpPr>
        <p:spPr>
          <a:xfrm>
            <a:off x="512700" y="1893300"/>
            <a:ext cx="8118600" cy="1522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400"/>
              <a:t>Features of the Project</a:t>
            </a:r>
            <a:endParaRPr sz="4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type="title"/>
          </p:nvPr>
        </p:nvSpPr>
        <p:spPr>
          <a:xfrm>
            <a:off x="265500" y="1382350"/>
            <a:ext cx="4045200" cy="1593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700"/>
              <a:t>Features</a:t>
            </a:r>
            <a:endParaRPr sz="4700"/>
          </a:p>
        </p:txBody>
      </p:sp>
      <p:sp>
        <p:nvSpPr>
          <p:cNvPr id="97" name="Google Shape;97;p19"/>
          <p:cNvSpPr txBox="1"/>
          <p:nvPr>
            <p:ph idx="2" type="body"/>
          </p:nvPr>
        </p:nvSpPr>
        <p:spPr>
          <a:xfrm>
            <a:off x="5044175" y="844800"/>
            <a:ext cx="3837000" cy="3866400"/>
          </a:xfrm>
          <a:prstGeom prst="rect">
            <a:avLst/>
          </a:prstGeom>
        </p:spPr>
        <p:txBody>
          <a:bodyPr anchorCtr="0" anchor="ctr" bIns="91425" lIns="91425" spcFirstLastPara="1" rIns="91425" wrap="square" tIns="91425">
            <a:noAutofit/>
          </a:bodyPr>
          <a:lstStyle/>
          <a:p>
            <a:pPr indent="-355600" lvl="0" marL="457200" rtl="0" algn="l">
              <a:spcBef>
                <a:spcPts val="0"/>
              </a:spcBef>
              <a:spcAft>
                <a:spcPts val="0"/>
              </a:spcAft>
              <a:buSzPts val="2000"/>
              <a:buChar char="●"/>
            </a:pPr>
            <a:r>
              <a:rPr lang="en" sz="2000"/>
              <a:t>Obstacle detection</a:t>
            </a:r>
            <a:endParaRPr sz="2000"/>
          </a:p>
          <a:p>
            <a:pPr indent="-355600" lvl="0" marL="457200" rtl="0" algn="l">
              <a:spcBef>
                <a:spcPts val="1600"/>
              </a:spcBef>
              <a:spcAft>
                <a:spcPts val="0"/>
              </a:spcAft>
              <a:buSzPts val="2000"/>
              <a:buChar char="●"/>
            </a:pPr>
            <a:r>
              <a:rPr lang="en" sz="2000"/>
              <a:t>Automated Brake/Reduce Speed.</a:t>
            </a:r>
            <a:endParaRPr sz="2000"/>
          </a:p>
          <a:p>
            <a:pPr indent="-355600" lvl="0" marL="457200" rtl="0" algn="l">
              <a:spcBef>
                <a:spcPts val="1600"/>
              </a:spcBef>
              <a:spcAft>
                <a:spcPts val="0"/>
              </a:spcAft>
              <a:buSzPts val="2000"/>
              <a:buChar char="●"/>
            </a:pPr>
            <a:r>
              <a:rPr lang="en" sz="2000"/>
              <a:t>Line/Lane Following</a:t>
            </a:r>
            <a:endParaRPr sz="2000"/>
          </a:p>
          <a:p>
            <a:pPr indent="-355600" lvl="0" marL="457200" rtl="0" algn="l">
              <a:spcBef>
                <a:spcPts val="1600"/>
              </a:spcBef>
              <a:spcAft>
                <a:spcPts val="0"/>
              </a:spcAft>
              <a:buSzPts val="2000"/>
              <a:buChar char="●"/>
            </a:pPr>
            <a:r>
              <a:rPr lang="en" sz="2000"/>
              <a:t>LED Indicator</a:t>
            </a:r>
            <a:endParaRPr sz="2000"/>
          </a:p>
          <a:p>
            <a:pPr indent="-355600" lvl="0" marL="457200" rtl="0" algn="l">
              <a:spcBef>
                <a:spcPts val="1600"/>
              </a:spcBef>
              <a:spcAft>
                <a:spcPts val="0"/>
              </a:spcAft>
              <a:buSzPts val="2000"/>
              <a:buChar char="●"/>
            </a:pPr>
            <a:r>
              <a:rPr lang="en" sz="2000"/>
              <a:t>Bluetooth Control with Mobile</a:t>
            </a:r>
            <a:endParaRPr sz="2000"/>
          </a:p>
          <a:p>
            <a:pPr indent="-355600" lvl="0" marL="457200" rtl="0" algn="l">
              <a:spcBef>
                <a:spcPts val="1600"/>
              </a:spcBef>
              <a:spcAft>
                <a:spcPts val="0"/>
              </a:spcAft>
              <a:buSzPts val="2000"/>
              <a:buChar char="●"/>
            </a:pPr>
            <a:r>
              <a:rPr lang="en" sz="2000"/>
              <a:t>Gesture Movements(Optional)</a:t>
            </a:r>
            <a:endParaRPr sz="2000"/>
          </a:p>
          <a:p>
            <a:pPr indent="0" lvl="0" marL="457200" rtl="0" algn="l">
              <a:spcBef>
                <a:spcPts val="1600"/>
              </a:spcBef>
              <a:spcAft>
                <a:spcPts val="16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title"/>
          </p:nvPr>
        </p:nvSpPr>
        <p:spPr>
          <a:xfrm>
            <a:off x="805125" y="445025"/>
            <a:ext cx="27609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200"/>
              <a:t>Obstacle Detection</a:t>
            </a:r>
            <a:endParaRPr sz="2200"/>
          </a:p>
          <a:p>
            <a:pPr indent="0" lvl="0" marL="0" rtl="0" algn="l">
              <a:spcBef>
                <a:spcPts val="0"/>
              </a:spcBef>
              <a:spcAft>
                <a:spcPts val="0"/>
              </a:spcAft>
              <a:buNone/>
            </a:pPr>
            <a:r>
              <a:t/>
            </a:r>
            <a:endParaRPr sz="2200"/>
          </a:p>
        </p:txBody>
      </p:sp>
      <p:pic>
        <p:nvPicPr>
          <p:cNvPr id="103" name="Google Shape;103;p20"/>
          <p:cNvPicPr preferRelativeResize="0"/>
          <p:nvPr/>
        </p:nvPicPr>
        <p:blipFill>
          <a:blip r:embed="rId3">
            <a:alphaModFix/>
          </a:blip>
          <a:stretch>
            <a:fillRect/>
          </a:stretch>
        </p:blipFill>
        <p:spPr>
          <a:xfrm>
            <a:off x="934788" y="1177850"/>
            <a:ext cx="2501574" cy="1714300"/>
          </a:xfrm>
          <a:prstGeom prst="rect">
            <a:avLst/>
          </a:prstGeom>
          <a:noFill/>
          <a:ln>
            <a:noFill/>
          </a:ln>
        </p:spPr>
      </p:pic>
      <p:sp>
        <p:nvSpPr>
          <p:cNvPr id="104" name="Google Shape;104;p20"/>
          <p:cNvSpPr txBox="1"/>
          <p:nvPr/>
        </p:nvSpPr>
        <p:spPr>
          <a:xfrm>
            <a:off x="4697875" y="490025"/>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chemeClr val="dk1"/>
                </a:solidFill>
                <a:latin typeface="Old Standard TT"/>
                <a:ea typeface="Old Standard TT"/>
                <a:cs typeface="Old Standard TT"/>
                <a:sym typeface="Old Standard TT"/>
              </a:rPr>
              <a:t>Line/Lane Following</a:t>
            </a:r>
            <a:endParaRPr sz="2200">
              <a:solidFill>
                <a:schemeClr val="dk1"/>
              </a:solidFill>
              <a:latin typeface="Old Standard TT"/>
              <a:ea typeface="Old Standard TT"/>
              <a:cs typeface="Old Standard TT"/>
              <a:sym typeface="Old Standard TT"/>
            </a:endParaRPr>
          </a:p>
        </p:txBody>
      </p:sp>
      <p:pic>
        <p:nvPicPr>
          <p:cNvPr id="105" name="Google Shape;105;p20"/>
          <p:cNvPicPr preferRelativeResize="0"/>
          <p:nvPr/>
        </p:nvPicPr>
        <p:blipFill>
          <a:blip r:embed="rId4">
            <a:alphaModFix/>
          </a:blip>
          <a:stretch>
            <a:fillRect/>
          </a:stretch>
        </p:blipFill>
        <p:spPr>
          <a:xfrm>
            <a:off x="4869700" y="1140475"/>
            <a:ext cx="2760900" cy="1714299"/>
          </a:xfrm>
          <a:prstGeom prst="rect">
            <a:avLst/>
          </a:prstGeom>
          <a:noFill/>
          <a:ln>
            <a:noFill/>
          </a:ln>
        </p:spPr>
      </p:pic>
      <p:sp>
        <p:nvSpPr>
          <p:cNvPr id="106" name="Google Shape;106;p20"/>
          <p:cNvSpPr txBox="1"/>
          <p:nvPr>
            <p:ph type="title"/>
          </p:nvPr>
        </p:nvSpPr>
        <p:spPr>
          <a:xfrm>
            <a:off x="934800" y="3542975"/>
            <a:ext cx="2760900" cy="80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t>Bluetooth Mobile Controller</a:t>
            </a:r>
            <a:endParaRPr sz="2200"/>
          </a:p>
          <a:p>
            <a:pPr indent="0" lvl="0" marL="0" rtl="0" algn="l">
              <a:spcBef>
                <a:spcPts val="0"/>
              </a:spcBef>
              <a:spcAft>
                <a:spcPts val="0"/>
              </a:spcAft>
              <a:buNone/>
            </a:pPr>
            <a:r>
              <a:t/>
            </a:r>
            <a:endParaRPr sz="2200"/>
          </a:p>
        </p:txBody>
      </p:sp>
      <p:pic>
        <p:nvPicPr>
          <p:cNvPr id="107" name="Google Shape;107;p20"/>
          <p:cNvPicPr preferRelativeResize="0"/>
          <p:nvPr/>
        </p:nvPicPr>
        <p:blipFill>
          <a:blip r:embed="rId5">
            <a:alphaModFix/>
          </a:blip>
          <a:stretch>
            <a:fillRect/>
          </a:stretch>
        </p:blipFill>
        <p:spPr>
          <a:xfrm>
            <a:off x="3972700" y="3162350"/>
            <a:ext cx="3234175" cy="1592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1"/>
          <p:cNvSpPr txBox="1"/>
          <p:nvPr>
            <p:ph type="title"/>
          </p:nvPr>
        </p:nvSpPr>
        <p:spPr>
          <a:xfrm>
            <a:off x="797650" y="659100"/>
            <a:ext cx="27609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t>LED Indicator</a:t>
            </a:r>
            <a:endParaRPr sz="2200"/>
          </a:p>
          <a:p>
            <a:pPr indent="0" lvl="0" marL="0" rtl="0" algn="l">
              <a:spcBef>
                <a:spcPts val="0"/>
              </a:spcBef>
              <a:spcAft>
                <a:spcPts val="0"/>
              </a:spcAft>
              <a:buNone/>
            </a:pPr>
            <a:r>
              <a:t/>
            </a:r>
            <a:endParaRPr sz="2200"/>
          </a:p>
        </p:txBody>
      </p:sp>
      <p:sp>
        <p:nvSpPr>
          <p:cNvPr id="113" name="Google Shape;113;p21"/>
          <p:cNvSpPr txBox="1"/>
          <p:nvPr/>
        </p:nvSpPr>
        <p:spPr>
          <a:xfrm>
            <a:off x="4630550" y="534750"/>
            <a:ext cx="30000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chemeClr val="dk1"/>
                </a:solidFill>
                <a:latin typeface="Old Standard TT"/>
                <a:ea typeface="Old Standard TT"/>
                <a:cs typeface="Old Standard TT"/>
                <a:sym typeface="Old Standard TT"/>
              </a:rPr>
              <a:t>Automated Brake System</a:t>
            </a:r>
            <a:endParaRPr sz="2200">
              <a:solidFill>
                <a:schemeClr val="dk1"/>
              </a:solidFill>
              <a:latin typeface="Old Standard TT"/>
              <a:ea typeface="Old Standard TT"/>
              <a:cs typeface="Old Standard TT"/>
              <a:sym typeface="Old Standard TT"/>
            </a:endParaRPr>
          </a:p>
        </p:txBody>
      </p:sp>
      <p:pic>
        <p:nvPicPr>
          <p:cNvPr id="114" name="Google Shape;114;p21"/>
          <p:cNvPicPr preferRelativeResize="0"/>
          <p:nvPr/>
        </p:nvPicPr>
        <p:blipFill rotWithShape="1">
          <a:blip r:embed="rId3">
            <a:alphaModFix/>
          </a:blip>
          <a:srcRect b="-3659" l="-4070" r="4069" t="3660"/>
          <a:stretch/>
        </p:blipFill>
        <p:spPr>
          <a:xfrm>
            <a:off x="797650" y="1549200"/>
            <a:ext cx="2035799" cy="2231201"/>
          </a:xfrm>
          <a:prstGeom prst="rect">
            <a:avLst/>
          </a:prstGeom>
          <a:noFill/>
          <a:ln>
            <a:noFill/>
          </a:ln>
        </p:spPr>
      </p:pic>
      <p:pic>
        <p:nvPicPr>
          <p:cNvPr id="115" name="Google Shape;115;p21"/>
          <p:cNvPicPr preferRelativeResize="0"/>
          <p:nvPr/>
        </p:nvPicPr>
        <p:blipFill>
          <a:blip r:embed="rId4">
            <a:alphaModFix/>
          </a:blip>
          <a:stretch>
            <a:fillRect/>
          </a:stretch>
        </p:blipFill>
        <p:spPr>
          <a:xfrm>
            <a:off x="3528527" y="1549200"/>
            <a:ext cx="4665201" cy="2757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2"/>
          <p:cNvSpPr txBox="1"/>
          <p:nvPr>
            <p:ph type="title"/>
          </p:nvPr>
        </p:nvSpPr>
        <p:spPr>
          <a:xfrm>
            <a:off x="512700" y="1893300"/>
            <a:ext cx="8118600" cy="1522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400"/>
              <a:t>Future </a:t>
            </a:r>
            <a:r>
              <a:rPr lang="en" sz="4400"/>
              <a:t>of the Project</a:t>
            </a:r>
            <a:endParaRPr sz="44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3"/>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Future of this system</a:t>
            </a:r>
            <a:endParaRPr/>
          </a:p>
        </p:txBody>
      </p:sp>
      <p:sp>
        <p:nvSpPr>
          <p:cNvPr id="126" name="Google Shape;126;p23"/>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In today’s Bangladesh, accident case is very heard news. Daily many accident case came to us about speeding or overtaking and lake of braking system of vehicles. By using this system accidents can be prevent and people will be safe during driving. In future we can prosper in </a:t>
            </a:r>
            <a:r>
              <a:rPr lang="en"/>
              <a:t>transportation</a:t>
            </a:r>
            <a:r>
              <a:rPr lang="en"/>
              <a:t> system. Our system is not so expensive but very useful to everyone.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4"/>
          <p:cNvSpPr txBox="1"/>
          <p:nvPr>
            <p:ph type="title"/>
          </p:nvPr>
        </p:nvSpPr>
        <p:spPr>
          <a:xfrm>
            <a:off x="2649000" y="1466850"/>
            <a:ext cx="3846000" cy="2209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