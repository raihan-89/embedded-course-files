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8" r:id="rId7"/>
    <p:sldId id="269" r:id="rId8"/>
    <p:sldId id="261" r:id="rId9"/>
    <p:sldId id="262" r:id="rId10"/>
    <p:sldId id="263" r:id="rId11"/>
    <p:sldId id="271" r:id="rId12"/>
    <p:sldId id="264" r:id="rId13"/>
    <p:sldId id="270" r:id="rId14"/>
    <p:sldId id="265" r:id="rId15"/>
    <p:sldId id="266" r:id="rId16"/>
    <p:sldId id="267" r:id="rId17"/>
  </p:sldIdLst>
  <p:sldSz cx="9144000" cy="5143500" type="screen16x9"/>
  <p:notesSz cx="6858000" cy="9144000"/>
  <p:embeddedFontLst>
    <p:embeddedFont>
      <p:font typeface="Old Standard TT" panose="020B0604020202020204"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65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0357f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90357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c6f90357f_0_1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c6f90357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c6f90357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053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6492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0357f_0_2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035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002d1ed06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002d1ed06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c6f9035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c6f9035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c6f9035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c6f9035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4845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002d1ed06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02d1ed06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002d1ed06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02d1ed06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287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002d1ed064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002d1ed0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6f90357f_0_4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0357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c6f90357f_0_3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c6f90357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1368100" y="2938100"/>
            <a:ext cx="7240500" cy="97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600"/>
              <a:t>Advanced Car</a:t>
            </a:r>
            <a:endParaRPr sz="4600"/>
          </a:p>
        </p:txBody>
      </p:sp>
      <p:sp>
        <p:nvSpPr>
          <p:cNvPr id="60" name="Google Shape;60;p13"/>
          <p:cNvSpPr txBox="1">
            <a:spLocks noGrp="1"/>
          </p:cNvSpPr>
          <p:nvPr>
            <p:ph type="subTitle" idx="1"/>
          </p:nvPr>
        </p:nvSpPr>
        <p:spPr>
          <a:xfrm>
            <a:off x="1495200" y="2300075"/>
            <a:ext cx="7345500" cy="7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Project Title:</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867225" y="1016750"/>
            <a:ext cx="7453500" cy="278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400"/>
              <a:t>Team Members:</a:t>
            </a:r>
            <a:endParaRPr sz="3400"/>
          </a:p>
          <a:p>
            <a:pPr marL="0" lvl="0" indent="0" algn="l" rtl="0">
              <a:spcBef>
                <a:spcPts val="0"/>
              </a:spcBef>
              <a:spcAft>
                <a:spcPts val="0"/>
              </a:spcAft>
              <a:buNone/>
            </a:pPr>
            <a:endParaRPr sz="2900"/>
          </a:p>
          <a:p>
            <a:pPr marL="457200" lvl="0" indent="-412750" algn="l" rtl="0">
              <a:spcBef>
                <a:spcPts val="0"/>
              </a:spcBef>
              <a:spcAft>
                <a:spcPts val="0"/>
              </a:spcAft>
              <a:buSzPts val="2900"/>
              <a:buAutoNum type="arabicPeriod"/>
            </a:pPr>
            <a:r>
              <a:rPr lang="en" sz="2900"/>
              <a:t>Md. Al-amin - 2021200000088</a:t>
            </a:r>
            <a:endParaRPr sz="2900"/>
          </a:p>
          <a:p>
            <a:pPr marL="457200" lvl="0" indent="-412750" algn="l" rtl="0">
              <a:spcBef>
                <a:spcPts val="0"/>
              </a:spcBef>
              <a:spcAft>
                <a:spcPts val="0"/>
              </a:spcAft>
              <a:buSzPts val="2900"/>
              <a:buAutoNum type="arabicPeriod"/>
            </a:pPr>
            <a:r>
              <a:rPr lang="en" sz="2900"/>
              <a:t>Md. Raihan Shikder - 2021200000089</a:t>
            </a:r>
            <a:endParaRPr sz="2900"/>
          </a:p>
          <a:p>
            <a:pPr marL="457200" lvl="0" indent="-412750" algn="l" rtl="0">
              <a:spcBef>
                <a:spcPts val="0"/>
              </a:spcBef>
              <a:spcAft>
                <a:spcPts val="0"/>
              </a:spcAft>
              <a:buSzPts val="2900"/>
              <a:buAutoNum type="arabicPeriod"/>
            </a:pPr>
            <a:r>
              <a:rPr lang="en" sz="2900"/>
              <a:t>Md. Shahrear Mostofa - 2021200000060</a:t>
            </a:r>
            <a:endParaRPr sz="2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700"/>
              <a:t>Concepts</a:t>
            </a:r>
            <a:endParaRPr sz="4700"/>
          </a:p>
        </p:txBody>
      </p:sp>
      <p:sp>
        <p:nvSpPr>
          <p:cNvPr id="71" name="Google Shape;71;p15"/>
          <p:cNvSpPr txBox="1">
            <a:spLocks noGrp="1"/>
          </p:cNvSpPr>
          <p:nvPr>
            <p:ph type="subTitle" idx="1"/>
          </p:nvPr>
        </p:nvSpPr>
        <p:spPr>
          <a:xfrm>
            <a:off x="134575" y="2769000"/>
            <a:ext cx="43284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Three main parts of the project</a:t>
            </a:r>
            <a:endParaRPr sz="2400"/>
          </a:p>
        </p:txBody>
      </p:sp>
      <p:sp>
        <p:nvSpPr>
          <p:cNvPr id="72" name="Google Shape;72;p15"/>
          <p:cNvSpPr txBox="1">
            <a:spLocks noGrp="1"/>
          </p:cNvSpPr>
          <p:nvPr>
            <p:ph type="body" idx="2"/>
          </p:nvPr>
        </p:nvSpPr>
        <p:spPr>
          <a:xfrm>
            <a:off x="5044175" y="1015775"/>
            <a:ext cx="3837000" cy="3695100"/>
          </a:xfrm>
          <a:prstGeom prst="rect">
            <a:avLst/>
          </a:prstGeom>
        </p:spPr>
        <p:txBody>
          <a:bodyPr spcFirstLastPara="1" wrap="square" lIns="91425" tIns="91425" rIns="91425" bIns="91425" anchor="ctr" anchorCtr="0">
            <a:noAutofit/>
          </a:bodyPr>
          <a:lstStyle/>
          <a:p>
            <a:pPr marL="457200" lvl="0" indent="-355600" algn="l" rtl="0">
              <a:spcBef>
                <a:spcPts val="0"/>
              </a:spcBef>
              <a:spcAft>
                <a:spcPts val="0"/>
              </a:spcAft>
              <a:buSzPts val="2000"/>
              <a:buChar char="●"/>
            </a:pPr>
            <a:r>
              <a:rPr lang="en" sz="2000"/>
              <a:t>Purposes of the project</a:t>
            </a:r>
            <a:endParaRPr sz="2000"/>
          </a:p>
          <a:p>
            <a:pPr marL="457200" lvl="0" indent="-355600" algn="l" rtl="0">
              <a:spcBef>
                <a:spcPts val="1600"/>
              </a:spcBef>
              <a:spcAft>
                <a:spcPts val="0"/>
              </a:spcAft>
              <a:buSzPts val="2000"/>
              <a:buChar char="●"/>
            </a:pPr>
            <a:r>
              <a:rPr lang="en" sz="2000"/>
              <a:t>Features of the project</a:t>
            </a:r>
            <a:endParaRPr sz="2000"/>
          </a:p>
          <a:p>
            <a:pPr marL="457200" lvl="0" indent="-355600" algn="l" rtl="0">
              <a:spcBef>
                <a:spcPts val="1600"/>
              </a:spcBef>
              <a:spcAft>
                <a:spcPts val="0"/>
              </a:spcAft>
              <a:buSzPts val="2000"/>
              <a:buChar char="●"/>
            </a:pPr>
            <a:r>
              <a:rPr lang="en" sz="2000"/>
              <a:t>Future of the project</a:t>
            </a:r>
            <a:endParaRPr sz="2000"/>
          </a:p>
          <a:p>
            <a:pPr marL="45720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a:t>Purposes of the Project</a:t>
            </a:r>
            <a:endParaRPr sz="4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64025" y="100927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Road Accident Scenario:</a:t>
            </a:r>
            <a:endParaRPr/>
          </a:p>
        </p:txBody>
      </p:sp>
      <p:sp>
        <p:nvSpPr>
          <p:cNvPr id="83" name="Google Shape;83;p17"/>
          <p:cNvSpPr txBox="1">
            <a:spLocks noGrp="1"/>
          </p:cNvSpPr>
          <p:nvPr>
            <p:ph type="body" idx="1"/>
          </p:nvPr>
        </p:nvSpPr>
        <p:spPr>
          <a:xfrm>
            <a:off x="468700" y="15155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a:p>
          <a:p>
            <a:pPr marL="0" lvl="0" indent="0" algn="l" rtl="0">
              <a:spcBef>
                <a:spcPts val="1600"/>
              </a:spcBef>
              <a:spcAft>
                <a:spcPts val="0"/>
              </a:spcAft>
              <a:buNone/>
            </a:pPr>
            <a:r>
              <a:rPr lang="en" sz="1600"/>
              <a:t>In 2021, there were 5,629 accidents led to 7,809 deaths. </a:t>
            </a:r>
            <a:endParaRPr sz="1600"/>
          </a:p>
          <a:p>
            <a:pPr marL="0" lvl="0" indent="0" algn="l" rtl="0">
              <a:spcBef>
                <a:spcPts val="1600"/>
              </a:spcBef>
              <a:spcAft>
                <a:spcPts val="1600"/>
              </a:spcAft>
              <a:buNone/>
            </a:pPr>
            <a:r>
              <a:rPr lang="en" sz="1600"/>
              <a:t>In 2022, there were staggering with at least 6,749 left 9,951 people dead.</a:t>
            </a:r>
            <a:endParaRPr sz="1600"/>
          </a:p>
        </p:txBody>
      </p:sp>
      <p:pic>
        <p:nvPicPr>
          <p:cNvPr id="84" name="Google Shape;84;p17"/>
          <p:cNvPicPr preferRelativeResize="0"/>
          <p:nvPr/>
        </p:nvPicPr>
        <p:blipFill rotWithShape="1">
          <a:blip r:embed="rId3">
            <a:alphaModFix/>
          </a:blip>
          <a:srcRect l="20680" r="20686"/>
          <a:stretch/>
        </p:blipFill>
        <p:spPr>
          <a:xfrm>
            <a:off x="4705150" y="342525"/>
            <a:ext cx="2035799" cy="1955427"/>
          </a:xfrm>
          <a:prstGeom prst="rect">
            <a:avLst/>
          </a:prstGeom>
          <a:noFill/>
          <a:ln>
            <a:noFill/>
          </a:ln>
        </p:spPr>
      </p:pic>
      <p:pic>
        <p:nvPicPr>
          <p:cNvPr id="85" name="Google Shape;85;p17"/>
          <p:cNvPicPr preferRelativeResize="0"/>
          <p:nvPr/>
        </p:nvPicPr>
        <p:blipFill rotWithShape="1">
          <a:blip r:embed="rId4">
            <a:alphaModFix/>
          </a:blip>
          <a:srcRect l="15165" r="15172"/>
          <a:stretch/>
        </p:blipFill>
        <p:spPr>
          <a:xfrm>
            <a:off x="6796425" y="342525"/>
            <a:ext cx="2035800" cy="1946699"/>
          </a:xfrm>
          <a:prstGeom prst="rect">
            <a:avLst/>
          </a:prstGeom>
          <a:noFill/>
          <a:ln>
            <a:noFill/>
          </a:ln>
        </p:spPr>
      </p:pic>
      <p:pic>
        <p:nvPicPr>
          <p:cNvPr id="86" name="Google Shape;86;p17"/>
          <p:cNvPicPr preferRelativeResize="0"/>
          <p:nvPr/>
        </p:nvPicPr>
        <p:blipFill rotWithShape="1">
          <a:blip r:embed="rId5">
            <a:alphaModFix/>
          </a:blip>
          <a:srcRect l="1295" r="1295"/>
          <a:stretch/>
        </p:blipFill>
        <p:spPr>
          <a:xfrm>
            <a:off x="4705200" y="2336175"/>
            <a:ext cx="4127098"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2709659" y="240649"/>
            <a:ext cx="4104575"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Hardware Components</a:t>
            </a:r>
            <a:endParaRPr dirty="0"/>
          </a:p>
        </p:txBody>
      </p:sp>
      <p:pic>
        <p:nvPicPr>
          <p:cNvPr id="2050" name="Picture 2" descr="Robocraze Banggood HC-SR04 DC 5V Ultrasonic Module Distance Measuring Transducer  Sensor : Amazon.in: Industrial &amp; Scientif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418" y="1404730"/>
            <a:ext cx="1755912" cy="1318591"/>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82;p17"/>
          <p:cNvSpPr txBox="1">
            <a:spLocks/>
          </p:cNvSpPr>
          <p:nvPr/>
        </p:nvSpPr>
        <p:spPr>
          <a:xfrm>
            <a:off x="741712" y="797240"/>
            <a:ext cx="2193646"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Ultrasonic sensor</a:t>
            </a:r>
          </a:p>
        </p:txBody>
      </p:sp>
      <p:sp>
        <p:nvSpPr>
          <p:cNvPr id="10" name="Google Shape;112;p21"/>
          <p:cNvSpPr txBox="1">
            <a:spLocks/>
          </p:cNvSpPr>
          <p:nvPr/>
        </p:nvSpPr>
        <p:spPr>
          <a:xfrm>
            <a:off x="3684364" y="797240"/>
            <a:ext cx="2760900" cy="613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200" dirty="0" smtClean="0"/>
              <a:t>LED Indicator</a:t>
            </a:r>
          </a:p>
          <a:p>
            <a:endParaRPr lang="en-US" sz="2200" dirty="0"/>
          </a:p>
        </p:txBody>
      </p:sp>
      <p:pic>
        <p:nvPicPr>
          <p:cNvPr id="11" name="Google Shape;114;p21"/>
          <p:cNvPicPr preferRelativeResize="0"/>
          <p:nvPr/>
        </p:nvPicPr>
        <p:blipFill rotWithShape="1">
          <a:blip r:embed="rId4">
            <a:alphaModFix/>
          </a:blip>
          <a:srcRect l="-4070" t="3660" r="4069" b="-3659"/>
          <a:stretch/>
        </p:blipFill>
        <p:spPr>
          <a:xfrm>
            <a:off x="3600743" y="1271294"/>
            <a:ext cx="2058193" cy="1457737"/>
          </a:xfrm>
          <a:prstGeom prst="rect">
            <a:avLst/>
          </a:prstGeom>
          <a:noFill/>
          <a:ln>
            <a:noFill/>
          </a:ln>
        </p:spPr>
      </p:pic>
      <p:pic>
        <p:nvPicPr>
          <p:cNvPr id="2056" name="Picture 8" descr="L298N H-Bridge Dual Motor Driver, Stepper Motor Driv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670" y="3511827"/>
            <a:ext cx="1699729" cy="1338468"/>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82;p17"/>
          <p:cNvSpPr txBox="1">
            <a:spLocks/>
          </p:cNvSpPr>
          <p:nvPr/>
        </p:nvSpPr>
        <p:spPr>
          <a:xfrm>
            <a:off x="801550" y="3027054"/>
            <a:ext cx="2730153"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L298N motor Driver</a:t>
            </a:r>
          </a:p>
          <a:p>
            <a:endParaRPr lang="en-US" sz="2000" dirty="0" smtClean="0"/>
          </a:p>
        </p:txBody>
      </p:sp>
      <p:pic>
        <p:nvPicPr>
          <p:cNvPr id="2058" name="Picture 10" descr="Arduino Uno - Wikipedi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6187" y="3511827"/>
            <a:ext cx="1497083" cy="1497083"/>
          </a:xfrm>
          <a:prstGeom prst="rect">
            <a:avLst/>
          </a:prstGeom>
          <a:noFill/>
          <a:extLst>
            <a:ext uri="{909E8E84-426E-40DD-AFC4-6F175D3DCCD1}">
              <a14:hiddenFill xmlns:a14="http://schemas.microsoft.com/office/drawing/2010/main">
                <a:solidFill>
                  <a:srgbClr val="FFFFFF"/>
                </a:solidFill>
              </a14:hiddenFill>
            </a:ext>
          </a:extLst>
        </p:spPr>
      </p:pic>
      <p:sp>
        <p:nvSpPr>
          <p:cNvPr id="17" name="Google Shape;82;p17"/>
          <p:cNvSpPr txBox="1">
            <a:spLocks/>
          </p:cNvSpPr>
          <p:nvPr/>
        </p:nvSpPr>
        <p:spPr>
          <a:xfrm>
            <a:off x="3750519" y="3027054"/>
            <a:ext cx="1908417"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Arduino Uno</a:t>
            </a:r>
          </a:p>
          <a:p>
            <a:endParaRPr lang="en-US" sz="2000" dirty="0" smtClean="0"/>
          </a:p>
        </p:txBody>
      </p:sp>
      <p:pic>
        <p:nvPicPr>
          <p:cNvPr id="2064" name="Picture 16" descr="Active Buzzer Module - 3.3-5V buy online at Low Price in India -  ElectronicsComp.co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4097" y="2252869"/>
            <a:ext cx="2185114" cy="1866741"/>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12;p21"/>
          <p:cNvSpPr txBox="1">
            <a:spLocks/>
          </p:cNvSpPr>
          <p:nvPr/>
        </p:nvSpPr>
        <p:spPr>
          <a:xfrm>
            <a:off x="6784358" y="1450825"/>
            <a:ext cx="1384592" cy="613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200" dirty="0" smtClean="0"/>
              <a:t>Buzzer</a:t>
            </a:r>
          </a:p>
          <a:p>
            <a:endParaRPr lang="en-US" sz="2200" dirty="0"/>
          </a:p>
        </p:txBody>
      </p:sp>
    </p:spTree>
    <p:extLst>
      <p:ext uri="{BB962C8B-B14F-4D97-AF65-F5344CB8AC3E}">
        <p14:creationId xmlns:p14="http://schemas.microsoft.com/office/powerpoint/2010/main" val="91103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2709659" y="240649"/>
            <a:ext cx="4104575"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Hardware Components</a:t>
            </a:r>
            <a:endParaRPr dirty="0"/>
          </a:p>
        </p:txBody>
      </p:sp>
      <p:sp>
        <p:nvSpPr>
          <p:cNvPr id="17" name="Google Shape;82;p17"/>
          <p:cNvSpPr txBox="1">
            <a:spLocks/>
          </p:cNvSpPr>
          <p:nvPr/>
        </p:nvSpPr>
        <p:spPr>
          <a:xfrm>
            <a:off x="1838534" y="870278"/>
            <a:ext cx="2455170"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Bluetooth Module</a:t>
            </a:r>
          </a:p>
          <a:p>
            <a:endParaRPr lang="en-US" sz="2000" dirty="0" smtClean="0"/>
          </a:p>
          <a:p>
            <a:endParaRPr lang="en-US" sz="2000" dirty="0" smtClean="0"/>
          </a:p>
        </p:txBody>
      </p:sp>
      <p:pic>
        <p:nvPicPr>
          <p:cNvPr id="2062" name="Picture 14" descr="Arduino Bluetooth Module HC-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073" y="1338622"/>
            <a:ext cx="2185114" cy="164720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readboard (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5385" y="1338622"/>
            <a:ext cx="2031034" cy="1524323"/>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82;p17"/>
          <p:cNvSpPr txBox="1">
            <a:spLocks/>
          </p:cNvSpPr>
          <p:nvPr/>
        </p:nvSpPr>
        <p:spPr>
          <a:xfrm>
            <a:off x="5261596" y="841452"/>
            <a:ext cx="1678611"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Breadboard</a:t>
            </a:r>
          </a:p>
          <a:p>
            <a:endParaRPr lang="en-US" sz="2000" dirty="0" smtClean="0"/>
          </a:p>
          <a:p>
            <a:endParaRPr lang="en-US" sz="2000" dirty="0" smtClean="0"/>
          </a:p>
        </p:txBody>
      </p:sp>
      <p:pic>
        <p:nvPicPr>
          <p:cNvPr id="3084" name="Picture 12" descr="Arduino, 65MM Wheel | 150 Rpm BO Motor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620" y="3327126"/>
            <a:ext cx="2276469" cy="1544915"/>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82;p17"/>
          <p:cNvSpPr txBox="1">
            <a:spLocks/>
          </p:cNvSpPr>
          <p:nvPr/>
        </p:nvSpPr>
        <p:spPr>
          <a:xfrm>
            <a:off x="712170" y="2858782"/>
            <a:ext cx="2455170"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Motors and Wheels</a:t>
            </a:r>
          </a:p>
          <a:p>
            <a:endParaRPr lang="en-US" sz="2000" dirty="0" smtClean="0"/>
          </a:p>
          <a:p>
            <a:endParaRPr lang="en-US" sz="2000" dirty="0" smtClean="0"/>
          </a:p>
        </p:txBody>
      </p:sp>
      <p:pic>
        <p:nvPicPr>
          <p:cNvPr id="3086" name="Picture 14" descr="Buy 18650 Li-ion Rechargeable Battery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1818" y="3245126"/>
            <a:ext cx="1565413" cy="1565413"/>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82;p17"/>
          <p:cNvSpPr txBox="1">
            <a:spLocks/>
          </p:cNvSpPr>
          <p:nvPr/>
        </p:nvSpPr>
        <p:spPr>
          <a:xfrm>
            <a:off x="6211818" y="2858782"/>
            <a:ext cx="1431574"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Battery</a:t>
            </a:r>
          </a:p>
          <a:p>
            <a:endParaRPr lang="en-US" sz="2000" dirty="0" smtClean="0"/>
          </a:p>
          <a:p>
            <a:endParaRPr lang="en-US" sz="2000" dirty="0" smtClean="0"/>
          </a:p>
        </p:txBody>
      </p:sp>
      <p:pic>
        <p:nvPicPr>
          <p:cNvPr id="3092" name="Picture 20" descr="Male to Female Jumper Wires 20 Pcs 20c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4433" y="3454175"/>
            <a:ext cx="1935614" cy="1535241"/>
          </a:xfrm>
          <a:prstGeom prst="rect">
            <a:avLst/>
          </a:prstGeom>
          <a:noFill/>
          <a:extLst>
            <a:ext uri="{909E8E84-426E-40DD-AFC4-6F175D3DCCD1}">
              <a14:hiddenFill xmlns:a14="http://schemas.microsoft.com/office/drawing/2010/main">
                <a:solidFill>
                  <a:srgbClr val="FFFFFF"/>
                </a:solidFill>
              </a14:hiddenFill>
            </a:ext>
          </a:extLst>
        </p:spPr>
      </p:pic>
      <p:sp>
        <p:nvSpPr>
          <p:cNvPr id="26" name="Google Shape;82;p17"/>
          <p:cNvSpPr txBox="1">
            <a:spLocks/>
          </p:cNvSpPr>
          <p:nvPr/>
        </p:nvSpPr>
        <p:spPr>
          <a:xfrm>
            <a:off x="3911093" y="2983750"/>
            <a:ext cx="1497425"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Wires</a:t>
            </a:r>
          </a:p>
          <a:p>
            <a:endParaRPr lang="en-US" sz="2000" dirty="0" smtClean="0"/>
          </a:p>
          <a:p>
            <a:endParaRPr lang="en-US" sz="2000" dirty="0" smtClean="0"/>
          </a:p>
        </p:txBody>
      </p:sp>
    </p:spTree>
    <p:extLst>
      <p:ext uri="{BB962C8B-B14F-4D97-AF65-F5344CB8AC3E}">
        <p14:creationId xmlns:p14="http://schemas.microsoft.com/office/powerpoint/2010/main" val="2765591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a:t>Features of the Project</a:t>
            </a:r>
            <a:endParaRPr sz="4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265500" y="1382350"/>
            <a:ext cx="4045200" cy="1593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700"/>
              <a:t>Features</a:t>
            </a:r>
            <a:endParaRPr sz="4700"/>
          </a:p>
        </p:txBody>
      </p:sp>
      <p:sp>
        <p:nvSpPr>
          <p:cNvPr id="97" name="Google Shape;97;p19"/>
          <p:cNvSpPr txBox="1">
            <a:spLocks noGrp="1"/>
          </p:cNvSpPr>
          <p:nvPr>
            <p:ph type="body" idx="2"/>
          </p:nvPr>
        </p:nvSpPr>
        <p:spPr>
          <a:xfrm>
            <a:off x="5044175" y="844800"/>
            <a:ext cx="3837000" cy="3866400"/>
          </a:xfrm>
          <a:prstGeom prst="rect">
            <a:avLst/>
          </a:prstGeom>
        </p:spPr>
        <p:txBody>
          <a:bodyPr spcFirstLastPara="1" wrap="square" lIns="91425" tIns="91425" rIns="91425" bIns="91425" anchor="ctr" anchorCtr="0">
            <a:noAutofit/>
          </a:bodyPr>
          <a:lstStyle/>
          <a:p>
            <a:pPr marL="457200" lvl="0" indent="-355600" algn="l" rtl="0">
              <a:spcBef>
                <a:spcPts val="0"/>
              </a:spcBef>
              <a:spcAft>
                <a:spcPts val="0"/>
              </a:spcAft>
              <a:buSzPts val="2000"/>
              <a:buChar char="●"/>
            </a:pPr>
            <a:r>
              <a:rPr lang="en" sz="2000" dirty="0"/>
              <a:t>Obstacle detection</a:t>
            </a:r>
            <a:endParaRPr sz="2000" dirty="0"/>
          </a:p>
          <a:p>
            <a:pPr marL="457200" lvl="0" indent="-355600" algn="l" rtl="0">
              <a:spcBef>
                <a:spcPts val="1600"/>
              </a:spcBef>
              <a:spcAft>
                <a:spcPts val="0"/>
              </a:spcAft>
              <a:buSzPts val="2000"/>
              <a:buChar char="●"/>
            </a:pPr>
            <a:r>
              <a:rPr lang="en" sz="2000" dirty="0"/>
              <a:t>Automated </a:t>
            </a:r>
            <a:r>
              <a:rPr lang="en" sz="2000" dirty="0" smtClean="0"/>
              <a:t>Brake/Go Backward for save Distance.</a:t>
            </a:r>
            <a:endParaRPr sz="2000" dirty="0"/>
          </a:p>
          <a:p>
            <a:pPr marL="457200" lvl="0" indent="-355600" algn="l" rtl="0">
              <a:spcBef>
                <a:spcPts val="1600"/>
              </a:spcBef>
              <a:spcAft>
                <a:spcPts val="0"/>
              </a:spcAft>
              <a:buSzPts val="2000"/>
              <a:buChar char="●"/>
            </a:pPr>
            <a:r>
              <a:rPr lang="en" sz="2000" dirty="0" smtClean="0"/>
              <a:t>LED </a:t>
            </a:r>
            <a:r>
              <a:rPr lang="en" sz="2000" dirty="0"/>
              <a:t>Indicator</a:t>
            </a:r>
            <a:endParaRPr sz="2000" dirty="0"/>
          </a:p>
          <a:p>
            <a:pPr marL="457200" lvl="0" indent="-355600" algn="l" rtl="0">
              <a:spcBef>
                <a:spcPts val="1600"/>
              </a:spcBef>
              <a:spcAft>
                <a:spcPts val="0"/>
              </a:spcAft>
              <a:buSzPts val="2000"/>
              <a:buChar char="●"/>
            </a:pPr>
            <a:r>
              <a:rPr lang="en" sz="2000" dirty="0"/>
              <a:t>Bluetooth Control with </a:t>
            </a:r>
            <a:r>
              <a:rPr lang="en" sz="2000" dirty="0" smtClean="0"/>
              <a:t>Mobile</a:t>
            </a:r>
            <a:endParaRPr sz="2000" dirty="0"/>
          </a:p>
          <a:p>
            <a:pPr marL="457200" lvl="0" indent="0" algn="l" rtl="0">
              <a:spcBef>
                <a:spcPts val="1600"/>
              </a:spcBef>
              <a:spcAft>
                <a:spcPts val="16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2" name="Title 1"/>
          <p:cNvSpPr>
            <a:spLocks noGrp="1"/>
          </p:cNvSpPr>
          <p:nvPr>
            <p:ph type="title"/>
          </p:nvPr>
        </p:nvSpPr>
        <p:spPr>
          <a:xfrm>
            <a:off x="4684917" y="1146130"/>
            <a:ext cx="2471257" cy="1615688"/>
          </a:xfrm>
        </p:spPr>
        <p:txBody>
          <a:bodyPr/>
          <a:lstStyle/>
          <a:p>
            <a:r>
              <a:rPr lang="en-US" sz="1200" dirty="0" smtClean="0"/>
              <a:t>L298N </a:t>
            </a:r>
            <a:r>
              <a:rPr lang="en-US" sz="1200" dirty="0"/>
              <a:t>is a dual H-bridge motor driver that allows control of the direction and speed of two DC motors by using PWM signals. It operates by switching the current flow through the motors, enabling forward, reverse, and braking actions.</a:t>
            </a:r>
          </a:p>
        </p:txBody>
      </p:sp>
      <p:pic>
        <p:nvPicPr>
          <p:cNvPr id="12" name="Picture 8" descr="L298N H-Bridge Dual Motor Driver, Stepper Motor Dri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763" y="1297648"/>
            <a:ext cx="3350328" cy="2638248"/>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82;p17"/>
          <p:cNvSpPr txBox="1">
            <a:spLocks/>
          </p:cNvSpPr>
          <p:nvPr/>
        </p:nvSpPr>
        <p:spPr>
          <a:xfrm>
            <a:off x="682280" y="573452"/>
            <a:ext cx="2828819" cy="5726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L298N motor Driver</a:t>
            </a:r>
          </a:p>
          <a:p>
            <a:endParaRPr lang="en-US" sz="20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6" name="Google Shape;106;p20"/>
          <p:cNvSpPr txBox="1">
            <a:spLocks noGrp="1"/>
          </p:cNvSpPr>
          <p:nvPr>
            <p:ph type="title"/>
          </p:nvPr>
        </p:nvSpPr>
        <p:spPr>
          <a:xfrm>
            <a:off x="504105" y="786738"/>
            <a:ext cx="3369054" cy="8167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Bluetooth Mobile Controller</a:t>
            </a:r>
            <a:endParaRPr sz="2200" dirty="0"/>
          </a:p>
          <a:p>
            <a:pPr marL="0" lvl="0" indent="0" algn="l" rtl="0">
              <a:spcBef>
                <a:spcPts val="0"/>
              </a:spcBef>
              <a:spcAft>
                <a:spcPts val="0"/>
              </a:spcAft>
              <a:buNone/>
            </a:pPr>
            <a:endParaRPr sz="2200" dirty="0"/>
          </a:p>
        </p:txBody>
      </p:sp>
      <p:pic>
        <p:nvPicPr>
          <p:cNvPr id="1028" name="Picture 4" descr="Sensors Modules Bluetooth Module Hc 05 | Sensors Modu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05" y="1695070"/>
            <a:ext cx="3369054" cy="230046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106;p20"/>
          <p:cNvSpPr txBox="1">
            <a:spLocks/>
          </p:cNvSpPr>
          <p:nvPr/>
        </p:nvSpPr>
        <p:spPr>
          <a:xfrm>
            <a:off x="5041977" y="1695070"/>
            <a:ext cx="2862944" cy="1390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1200" dirty="0" smtClean="0"/>
              <a:t>Bluetooth </a:t>
            </a:r>
            <a:r>
              <a:rPr lang="en-US" sz="1200" dirty="0"/>
              <a:t>module enables wireless communication between devices by transmitting data over short distances using radio waves. It pairs with other Bluetooth-enabled devices, allowing them to exchange information and commands seamlessly.</a:t>
            </a:r>
          </a:p>
        </p:txBody>
      </p:sp>
    </p:spTree>
    <p:extLst>
      <p:ext uri="{BB962C8B-B14F-4D97-AF65-F5344CB8AC3E}">
        <p14:creationId xmlns:p14="http://schemas.microsoft.com/office/powerpoint/2010/main" val="1814260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8" name="Google Shape;102;p20"/>
          <p:cNvSpPr txBox="1">
            <a:spLocks/>
          </p:cNvSpPr>
          <p:nvPr/>
        </p:nvSpPr>
        <p:spPr>
          <a:xfrm>
            <a:off x="5204845" y="3479773"/>
            <a:ext cx="3071138" cy="14102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pPr>
              <a:buSzPts val="1100"/>
            </a:pPr>
            <a:r>
              <a:rPr lang="en-US" sz="1200" dirty="0"/>
              <a:t>Arduino Uno is an open-source microcontroller board based on the ATmega328, designed for easy programming and prototyping. It reads inputs from sensors and controls outputs like motors and LEDs, allowing users to create interactive electronic projects.</a:t>
            </a:r>
          </a:p>
        </p:txBody>
      </p:sp>
      <p:sp>
        <p:nvSpPr>
          <p:cNvPr id="9" name="Google Shape;112;p21"/>
          <p:cNvSpPr txBox="1">
            <a:spLocks/>
          </p:cNvSpPr>
          <p:nvPr/>
        </p:nvSpPr>
        <p:spPr>
          <a:xfrm>
            <a:off x="797650" y="3802112"/>
            <a:ext cx="2760900" cy="9355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1200" dirty="0"/>
              <a:t>B</a:t>
            </a:r>
            <a:r>
              <a:rPr lang="en-US" sz="1200" dirty="0" smtClean="0"/>
              <a:t>uzzer </a:t>
            </a:r>
            <a:r>
              <a:rPr lang="en-US" sz="1200" dirty="0"/>
              <a:t>produces sound when an electrical current passes through it, causing a diaphragm to vibrate and create audible sound waves.</a:t>
            </a:r>
          </a:p>
        </p:txBody>
      </p:sp>
      <p:pic>
        <p:nvPicPr>
          <p:cNvPr id="11" name="Picture 16" descr="Active Buzzer Module - 3.3-5V buy online at Low Price in India -  ElectronicsComp.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650" y="1557130"/>
            <a:ext cx="2185114" cy="1866741"/>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12;p21"/>
          <p:cNvSpPr txBox="1">
            <a:spLocks/>
          </p:cNvSpPr>
          <p:nvPr/>
        </p:nvSpPr>
        <p:spPr>
          <a:xfrm>
            <a:off x="1197911" y="755086"/>
            <a:ext cx="1384592" cy="613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200" dirty="0" smtClean="0"/>
              <a:t>Buzzer</a:t>
            </a:r>
          </a:p>
          <a:p>
            <a:endParaRPr lang="en-US" sz="2200" dirty="0"/>
          </a:p>
        </p:txBody>
      </p:sp>
      <p:pic>
        <p:nvPicPr>
          <p:cNvPr id="13" name="Picture 10" descr="Arduino Uno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6125" y="1259595"/>
            <a:ext cx="2184012" cy="2184012"/>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82;p17"/>
          <p:cNvSpPr txBox="1">
            <a:spLocks/>
          </p:cNvSpPr>
          <p:nvPr/>
        </p:nvSpPr>
        <p:spPr>
          <a:xfrm>
            <a:off x="5731720" y="755086"/>
            <a:ext cx="1908417" cy="4683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2000" dirty="0" smtClean="0"/>
              <a:t>Arduino Uno</a:t>
            </a:r>
          </a:p>
          <a:p>
            <a:endParaRPr lang="en-US" sz="20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797650" y="659100"/>
            <a:ext cx="27609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LED Indicator</a:t>
            </a:r>
            <a:endParaRPr sz="2200" dirty="0"/>
          </a:p>
          <a:p>
            <a:pPr marL="0" lvl="0" indent="0" algn="l" rtl="0">
              <a:spcBef>
                <a:spcPts val="0"/>
              </a:spcBef>
              <a:spcAft>
                <a:spcPts val="0"/>
              </a:spcAft>
              <a:buNone/>
            </a:pPr>
            <a:endParaRPr sz="2200" dirty="0"/>
          </a:p>
        </p:txBody>
      </p:sp>
      <p:pic>
        <p:nvPicPr>
          <p:cNvPr id="114" name="Google Shape;114;p21"/>
          <p:cNvPicPr preferRelativeResize="0"/>
          <p:nvPr/>
        </p:nvPicPr>
        <p:blipFill rotWithShape="1">
          <a:blip r:embed="rId3">
            <a:alphaModFix/>
          </a:blip>
          <a:srcRect l="-4070" t="3660" r="4069" b="-3659"/>
          <a:stretch/>
        </p:blipFill>
        <p:spPr>
          <a:xfrm>
            <a:off x="797650" y="1549200"/>
            <a:ext cx="2035799" cy="2231201"/>
          </a:xfrm>
          <a:prstGeom prst="rect">
            <a:avLst/>
          </a:prstGeom>
          <a:noFill/>
          <a:ln>
            <a:noFill/>
          </a:ln>
        </p:spPr>
      </p:pic>
      <p:sp>
        <p:nvSpPr>
          <p:cNvPr id="6" name="Google Shape;102;p20"/>
          <p:cNvSpPr txBox="1">
            <a:spLocks/>
          </p:cNvSpPr>
          <p:nvPr/>
        </p:nvSpPr>
        <p:spPr>
          <a:xfrm>
            <a:off x="5131959" y="339008"/>
            <a:ext cx="2760900" cy="613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pPr>
              <a:buSzPts val="1100"/>
              <a:buFont typeface="Arial"/>
              <a:buNone/>
            </a:pPr>
            <a:r>
              <a:rPr lang="en-US" sz="2200" dirty="0" smtClean="0"/>
              <a:t>Obstacle Detection</a:t>
            </a:r>
          </a:p>
          <a:p>
            <a:endParaRPr lang="en-US" sz="2200" dirty="0"/>
          </a:p>
        </p:txBody>
      </p:sp>
      <p:pic>
        <p:nvPicPr>
          <p:cNvPr id="7" name="Google Shape;103;p20"/>
          <p:cNvPicPr preferRelativeResize="0"/>
          <p:nvPr/>
        </p:nvPicPr>
        <p:blipFill>
          <a:blip r:embed="rId4">
            <a:alphaModFix/>
          </a:blip>
          <a:stretch>
            <a:fillRect/>
          </a:stretch>
        </p:blipFill>
        <p:spPr>
          <a:xfrm>
            <a:off x="5261622" y="1071833"/>
            <a:ext cx="2501574" cy="2194828"/>
          </a:xfrm>
          <a:prstGeom prst="rect">
            <a:avLst/>
          </a:prstGeom>
          <a:noFill/>
          <a:ln>
            <a:noFill/>
          </a:ln>
        </p:spPr>
      </p:pic>
      <p:sp>
        <p:nvSpPr>
          <p:cNvPr id="8" name="Google Shape;102;p20"/>
          <p:cNvSpPr txBox="1">
            <a:spLocks/>
          </p:cNvSpPr>
          <p:nvPr/>
        </p:nvSpPr>
        <p:spPr>
          <a:xfrm>
            <a:off x="5204845" y="3479773"/>
            <a:ext cx="2825972" cy="12578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pPr>
              <a:buSzPts val="1100"/>
            </a:pPr>
            <a:r>
              <a:rPr lang="en-US" sz="1200" dirty="0"/>
              <a:t>U</a:t>
            </a:r>
            <a:r>
              <a:rPr lang="en-US" sz="1200" dirty="0" smtClean="0"/>
              <a:t>ltrasonic </a:t>
            </a:r>
            <a:r>
              <a:rPr lang="en-US" sz="1200" dirty="0"/>
              <a:t>sensor </a:t>
            </a:r>
            <a:r>
              <a:rPr lang="en-US" sz="1200" dirty="0" smtClean="0"/>
              <a:t>produce </a:t>
            </a:r>
            <a:r>
              <a:rPr lang="en-US" sz="1200" dirty="0"/>
              <a:t>sound waves and measures the time it takes for the echoes to return after bouncing off an object. This time delay is used to calculate the distance to the object based on the speed of sound.</a:t>
            </a:r>
          </a:p>
        </p:txBody>
      </p:sp>
      <p:sp>
        <p:nvSpPr>
          <p:cNvPr id="9" name="Google Shape;112;p21"/>
          <p:cNvSpPr txBox="1">
            <a:spLocks/>
          </p:cNvSpPr>
          <p:nvPr/>
        </p:nvSpPr>
        <p:spPr>
          <a:xfrm>
            <a:off x="797650" y="3802112"/>
            <a:ext cx="2760900" cy="9355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3000"/>
              <a:buFont typeface="Old Standard TT"/>
              <a:buNone/>
              <a:defRPr sz="3000" b="0" i="0" u="none" strike="noStrike" cap="none">
                <a:solidFill>
                  <a:schemeClr val="dk1"/>
                </a:solidFill>
                <a:latin typeface="Old Standard TT"/>
                <a:ea typeface="Old Standard TT"/>
                <a:cs typeface="Old Standard TT"/>
                <a:sym typeface="Old Standard TT"/>
              </a:defRPr>
            </a:lvl9pPr>
          </a:lstStyle>
          <a:p>
            <a:r>
              <a:rPr lang="en-US" sz="1200" dirty="0" smtClean="0"/>
              <a:t>LED </a:t>
            </a:r>
            <a:r>
              <a:rPr lang="en-US" sz="1200" dirty="0"/>
              <a:t>light </a:t>
            </a:r>
            <a:r>
              <a:rPr lang="en-US" sz="1200" dirty="0" smtClean="0"/>
              <a:t>HIGH </a:t>
            </a:r>
            <a:r>
              <a:rPr lang="en-US" sz="1200" dirty="0"/>
              <a:t>when an electric current passes through a semiconductor, causing it to release energy in the form of photons.</a:t>
            </a:r>
          </a:p>
        </p:txBody>
      </p:sp>
    </p:spTree>
    <p:extLst>
      <p:ext uri="{BB962C8B-B14F-4D97-AF65-F5344CB8AC3E}">
        <p14:creationId xmlns:p14="http://schemas.microsoft.com/office/powerpoint/2010/main" val="1117249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a:t>Future of the Project</a:t>
            </a:r>
            <a:endParaRPr sz="4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Future of this system</a:t>
            </a:r>
            <a:endParaRPr/>
          </a:p>
        </p:txBody>
      </p:sp>
      <p:sp>
        <p:nvSpPr>
          <p:cNvPr id="126" name="Google Shape;126;p23"/>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In today’s Bangladesh, accident case is very heard news. Daily many accident case came to us about speeding or overtaking and lake of braking system of vehicles. By using this system accidents can be prevent and people will be safe during driving. In future we can prosper in transportation system. Our system is not so expensive but very useful to everyone.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2649000" y="1466850"/>
            <a:ext cx="3846000" cy="220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415</Words>
  <Application>Microsoft Office PowerPoint</Application>
  <PresentationFormat>On-screen Show (16:9)</PresentationFormat>
  <Paragraphs>51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Old Standard TT</vt:lpstr>
      <vt:lpstr>Arial</vt:lpstr>
      <vt:lpstr>Paperback</vt:lpstr>
      <vt:lpstr>Advanced Car</vt:lpstr>
      <vt:lpstr>Team Members:  Md. Al-amin - 2021200000088 Md. Raihan Shikder - 2021200000089 Md. Shahrear Mostofa - 2021200000060</vt:lpstr>
      <vt:lpstr>Concepts</vt:lpstr>
      <vt:lpstr>Purposes of the Project</vt:lpstr>
      <vt:lpstr>Road Accident Scenario:</vt:lpstr>
      <vt:lpstr>Hardware Components</vt:lpstr>
      <vt:lpstr>Hardware Components</vt:lpstr>
      <vt:lpstr>Features of the Project</vt:lpstr>
      <vt:lpstr>Features</vt:lpstr>
      <vt:lpstr>L298N is a dual H-bridge motor driver that allows control of the direction and speed of two DC motors by using PWM signals. It operates by switching the current flow through the motors, enabling forward, reverse, and braking actions.</vt:lpstr>
      <vt:lpstr>Bluetooth Mobile Controller </vt:lpstr>
      <vt:lpstr>PowerPoint Presentation</vt:lpstr>
      <vt:lpstr>LED Indicator </vt:lpstr>
      <vt:lpstr>Future of the Project</vt:lpstr>
      <vt:lpstr>Future of this system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Car</dc:title>
  <dc:creator>Students</dc:creator>
  <cp:lastModifiedBy>Admin</cp:lastModifiedBy>
  <cp:revision>7</cp:revision>
  <dcterms:modified xsi:type="dcterms:W3CDTF">2024-10-19T10:24:58Z</dcterms:modified>
</cp:coreProperties>
</file>